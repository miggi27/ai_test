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B43F-15BE-40B7-9120-CBD16EB29EF3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B8CF3-89EF-43E3-AA2E-AE07EF4FE3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173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B43F-15BE-40B7-9120-CBD16EB29EF3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B8CF3-89EF-43E3-AA2E-AE07EF4FE3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611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B43F-15BE-40B7-9120-CBD16EB29EF3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B8CF3-89EF-43E3-AA2E-AE07EF4FE3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100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B43F-15BE-40B7-9120-CBD16EB29EF3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B8CF3-89EF-43E3-AA2E-AE07EF4FE3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787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B43F-15BE-40B7-9120-CBD16EB29EF3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B8CF3-89EF-43E3-AA2E-AE07EF4FE3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127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B43F-15BE-40B7-9120-CBD16EB29EF3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B8CF3-89EF-43E3-AA2E-AE07EF4FE3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234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B43F-15BE-40B7-9120-CBD16EB29EF3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B8CF3-89EF-43E3-AA2E-AE07EF4FE3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898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B43F-15BE-40B7-9120-CBD16EB29EF3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B8CF3-89EF-43E3-AA2E-AE07EF4FE3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654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B43F-15BE-40B7-9120-CBD16EB29EF3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B8CF3-89EF-43E3-AA2E-AE07EF4FE3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841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B43F-15BE-40B7-9120-CBD16EB29EF3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B8CF3-89EF-43E3-AA2E-AE07EF4FE3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0887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CB43F-15BE-40B7-9120-CBD16EB29EF3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B8CF3-89EF-43E3-AA2E-AE07EF4FE3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608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CCB43F-15BE-40B7-9120-CBD16EB29EF3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B8CF3-89EF-43E3-AA2E-AE07EF4FE3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4105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68448" y="327171"/>
            <a:ext cx="11644389" cy="557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1. 분류 모델의 성능 평가 지표 (</a:t>
            </a:r>
            <a:r>
              <a:rPr kumimoji="0" lang="ko-KR" altLang="ko-KR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Classification</a:t>
            </a:r>
            <a:r>
              <a:rPr kumimoji="0" lang="ko-KR" altLang="ko-K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)</a:t>
            </a: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어떤 데이터가 주어졌을 때 '</a:t>
            </a:r>
            <a:r>
              <a:rPr kumimoji="0" lang="ko-KR" altLang="ko-KR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합격'인지</a:t>
            </a:r>
            <a:r>
              <a:rPr kumimoji="0" lang="ko-KR" altLang="ko-K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 '</a:t>
            </a:r>
            <a:r>
              <a:rPr kumimoji="0" lang="ko-KR" altLang="ko-KR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불합격'인지</a:t>
            </a:r>
            <a:r>
              <a:rPr kumimoji="0" lang="ko-KR" altLang="ko-K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 맞추는 이진 분류 문제를 예로 들어보겠습니다. 정보처리기사 실기 시험의 합격 여부를 예측하는 인공지능을 만들었다고 가정해 볼까요?</a:t>
            </a:r>
            <a:endParaRPr lang="ko-KR" altLang="ko-KR" sz="2000" dirty="0"/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2000" dirty="0">
                <a:ea typeface="Google Sans Text"/>
              </a:rPr>
              <a:t>분류 모델의 성능을 평가할 때는 가장 먼저 **오차 행렬(</a:t>
            </a:r>
            <a:r>
              <a:rPr lang="ko-KR" altLang="ko-KR" sz="2000" dirty="0" err="1">
                <a:ea typeface="Google Sans Text"/>
              </a:rPr>
              <a:t>Confusion</a:t>
            </a:r>
            <a:r>
              <a:rPr lang="ko-KR" altLang="ko-KR" sz="2000" dirty="0">
                <a:ea typeface="Google Sans Text"/>
              </a:rPr>
              <a:t> </a:t>
            </a:r>
            <a:r>
              <a:rPr lang="ko-KR" altLang="ko-KR" sz="2000" dirty="0" err="1">
                <a:ea typeface="Google Sans Text"/>
              </a:rPr>
              <a:t>Matrix</a:t>
            </a:r>
            <a:r>
              <a:rPr lang="ko-KR" altLang="ko-KR" sz="2000" dirty="0">
                <a:ea typeface="Google Sans Text"/>
              </a:rPr>
              <a:t>)**이라는 표를 이해해야 합니다</a:t>
            </a:r>
            <a:r>
              <a:rPr lang="ko-KR" altLang="ko-KR" sz="2000" dirty="0" smtClean="0">
                <a:ea typeface="Google Sans Text"/>
              </a:rPr>
              <a:t>.</a:t>
            </a:r>
            <a:endParaRPr lang="en-US" altLang="ko-KR" sz="2000" dirty="0" smtClean="0">
              <a:ea typeface="Google Sans Text"/>
            </a:endParaRP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ko-KR" altLang="ko-KR" sz="2000" dirty="0"/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2000" dirty="0">
                <a:ea typeface="Google Sans Text"/>
              </a:rPr>
              <a:t>오차 행렬은 '실제 </a:t>
            </a:r>
            <a:r>
              <a:rPr lang="ko-KR" altLang="ko-KR" sz="2000" dirty="0" err="1">
                <a:ea typeface="Google Sans Text"/>
              </a:rPr>
              <a:t>정답'과</a:t>
            </a:r>
            <a:r>
              <a:rPr lang="ko-KR" altLang="ko-KR" sz="2000" dirty="0">
                <a:ea typeface="Google Sans Text"/>
              </a:rPr>
              <a:t> '모델이 예측한 </a:t>
            </a:r>
            <a:r>
              <a:rPr lang="ko-KR" altLang="ko-KR" sz="2000" dirty="0" err="1">
                <a:ea typeface="Google Sans Text"/>
              </a:rPr>
              <a:t>결과'를</a:t>
            </a:r>
            <a:r>
              <a:rPr lang="ko-KR" altLang="ko-KR" sz="2000" dirty="0">
                <a:ea typeface="Google Sans Text"/>
              </a:rPr>
              <a:t> 교차하여 4가지 경우의 수로 나눈 표입니다.</a:t>
            </a:r>
            <a:endParaRPr lang="ko-KR" altLang="ko-KR" sz="2000" dirty="0"/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2000" b="1" dirty="0">
                <a:ea typeface="Google Sans Text"/>
              </a:rPr>
              <a:t>TP (</a:t>
            </a:r>
            <a:r>
              <a:rPr lang="ko-KR" altLang="ko-KR" sz="2000" b="1" dirty="0" err="1">
                <a:ea typeface="Google Sans Text"/>
              </a:rPr>
              <a:t>True</a:t>
            </a:r>
            <a:r>
              <a:rPr lang="ko-KR" altLang="ko-KR" sz="2000" b="1" dirty="0">
                <a:ea typeface="Google Sans Text"/>
              </a:rPr>
              <a:t> </a:t>
            </a:r>
            <a:r>
              <a:rPr lang="ko-KR" altLang="ko-KR" sz="2000" b="1" dirty="0" err="1">
                <a:ea typeface="Google Sans Text"/>
              </a:rPr>
              <a:t>Positive</a:t>
            </a:r>
            <a:r>
              <a:rPr lang="ko-KR" altLang="ko-KR" sz="2000" b="1" dirty="0">
                <a:ea typeface="Google Sans Text"/>
              </a:rPr>
              <a:t>):</a:t>
            </a:r>
            <a:r>
              <a:rPr lang="ko-KR" altLang="ko-KR" sz="2000" dirty="0">
                <a:ea typeface="Google Sans Text"/>
              </a:rPr>
              <a:t> 실제 합격인데, 모델도 합격이라고 </a:t>
            </a:r>
            <a:r>
              <a:rPr lang="ko-KR" altLang="ko-KR" sz="2000" b="1" dirty="0">
                <a:ea typeface="Google Sans Text"/>
              </a:rPr>
              <a:t>맞게</a:t>
            </a:r>
            <a:r>
              <a:rPr lang="ko-KR" altLang="ko-KR" sz="2000" dirty="0">
                <a:ea typeface="Google Sans Text"/>
              </a:rPr>
              <a:t> 예측함 (정답!)</a:t>
            </a: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2000" b="1" dirty="0">
                <a:ea typeface="Google Sans Text"/>
              </a:rPr>
              <a:t>TN (</a:t>
            </a:r>
            <a:r>
              <a:rPr lang="ko-KR" altLang="ko-KR" sz="2000" b="1" dirty="0" err="1">
                <a:ea typeface="Google Sans Text"/>
              </a:rPr>
              <a:t>True</a:t>
            </a:r>
            <a:r>
              <a:rPr lang="ko-KR" altLang="ko-KR" sz="2000" b="1" dirty="0">
                <a:ea typeface="Google Sans Text"/>
              </a:rPr>
              <a:t> </a:t>
            </a:r>
            <a:r>
              <a:rPr lang="ko-KR" altLang="ko-KR" sz="2000" b="1" dirty="0" err="1">
                <a:ea typeface="Google Sans Text"/>
              </a:rPr>
              <a:t>Negative</a:t>
            </a:r>
            <a:r>
              <a:rPr lang="ko-KR" altLang="ko-KR" sz="2000" b="1" dirty="0">
                <a:ea typeface="Google Sans Text"/>
              </a:rPr>
              <a:t>):</a:t>
            </a:r>
            <a:r>
              <a:rPr lang="ko-KR" altLang="ko-KR" sz="2000" dirty="0">
                <a:ea typeface="Google Sans Text"/>
              </a:rPr>
              <a:t> 실제 불합격인데, 모델도 불합격이라고 </a:t>
            </a:r>
            <a:r>
              <a:rPr lang="ko-KR" altLang="ko-KR" sz="2000" b="1" dirty="0">
                <a:ea typeface="Google Sans Text"/>
              </a:rPr>
              <a:t>맞게</a:t>
            </a:r>
            <a:r>
              <a:rPr lang="ko-KR" altLang="ko-KR" sz="2000" dirty="0">
                <a:ea typeface="Google Sans Text"/>
              </a:rPr>
              <a:t> 예측함 (정답!)</a:t>
            </a: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2000" b="1" dirty="0">
                <a:ea typeface="Google Sans Text"/>
              </a:rPr>
              <a:t>FP (</a:t>
            </a:r>
            <a:r>
              <a:rPr lang="ko-KR" altLang="ko-KR" sz="2000" b="1" dirty="0" err="1">
                <a:ea typeface="Google Sans Text"/>
              </a:rPr>
              <a:t>False</a:t>
            </a:r>
            <a:r>
              <a:rPr lang="ko-KR" altLang="ko-KR" sz="2000" b="1" dirty="0">
                <a:ea typeface="Google Sans Text"/>
              </a:rPr>
              <a:t> </a:t>
            </a:r>
            <a:r>
              <a:rPr lang="ko-KR" altLang="ko-KR" sz="2000" b="1" dirty="0" err="1">
                <a:ea typeface="Google Sans Text"/>
              </a:rPr>
              <a:t>Positive</a:t>
            </a:r>
            <a:r>
              <a:rPr lang="ko-KR" altLang="ko-KR" sz="2000" b="1" dirty="0">
                <a:ea typeface="Google Sans Text"/>
              </a:rPr>
              <a:t>):</a:t>
            </a:r>
            <a:r>
              <a:rPr lang="ko-KR" altLang="ko-KR" sz="2000" dirty="0">
                <a:ea typeface="Google Sans Text"/>
              </a:rPr>
              <a:t> 실제 불합격인데, 모델은 합격이라고 </a:t>
            </a:r>
            <a:r>
              <a:rPr lang="ko-KR" altLang="ko-KR" sz="2000" b="1" dirty="0">
                <a:ea typeface="Google Sans Text"/>
              </a:rPr>
              <a:t>틀리게</a:t>
            </a:r>
            <a:r>
              <a:rPr lang="ko-KR" altLang="ko-KR" sz="2000" dirty="0">
                <a:ea typeface="Google Sans Text"/>
              </a:rPr>
              <a:t> 예측함 (오답 - 헛다리 짚음)</a:t>
            </a: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2000" b="1" dirty="0">
                <a:ea typeface="Google Sans Text"/>
              </a:rPr>
              <a:t>FN (</a:t>
            </a:r>
            <a:r>
              <a:rPr lang="ko-KR" altLang="ko-KR" sz="2000" b="1" dirty="0" err="1">
                <a:ea typeface="Google Sans Text"/>
              </a:rPr>
              <a:t>False</a:t>
            </a:r>
            <a:r>
              <a:rPr lang="ko-KR" altLang="ko-KR" sz="2000" b="1" dirty="0">
                <a:ea typeface="Google Sans Text"/>
              </a:rPr>
              <a:t> </a:t>
            </a:r>
            <a:r>
              <a:rPr lang="ko-KR" altLang="ko-KR" sz="2000" b="1" dirty="0" err="1">
                <a:ea typeface="Google Sans Text"/>
              </a:rPr>
              <a:t>Negative</a:t>
            </a:r>
            <a:r>
              <a:rPr lang="ko-KR" altLang="ko-KR" sz="2000" b="1" dirty="0">
                <a:ea typeface="Google Sans Text"/>
              </a:rPr>
              <a:t>):</a:t>
            </a:r>
            <a:r>
              <a:rPr lang="ko-KR" altLang="ko-KR" sz="2000" dirty="0">
                <a:ea typeface="Google Sans Text"/>
              </a:rPr>
              <a:t> 실제 합격인데, 모델은 불합격이라고 </a:t>
            </a:r>
            <a:r>
              <a:rPr lang="ko-KR" altLang="ko-KR" sz="2000" b="1" dirty="0">
                <a:ea typeface="Google Sans Text"/>
              </a:rPr>
              <a:t>틀리게</a:t>
            </a:r>
            <a:r>
              <a:rPr lang="ko-KR" altLang="ko-KR" sz="2000" dirty="0">
                <a:ea typeface="Google Sans Text"/>
              </a:rPr>
              <a:t> 예측함 (오답 - 놓침)</a:t>
            </a: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2000" dirty="0">
                <a:ea typeface="Google Sans Text"/>
              </a:rPr>
              <a:t>이 4가지 요소를 조합하여 다양한 지표를 만들어냅니다</a:t>
            </a:r>
            <a:r>
              <a:rPr lang="ko-KR" altLang="ko-KR" sz="2000" dirty="0" smtClean="0">
                <a:ea typeface="Google Sans Text"/>
              </a:rPr>
              <a:t>.</a:t>
            </a:r>
            <a:endParaRPr kumimoji="0" lang="ko-KR" altLang="ko-K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382893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5226" y="377505"/>
            <a:ext cx="11619066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600" b="1" dirty="0">
                <a:ea typeface="Google Sans"/>
              </a:rPr>
              <a:t>① 정확도 (</a:t>
            </a:r>
            <a:r>
              <a:rPr lang="ko-KR" altLang="ko-KR" sz="1600" b="1" dirty="0" err="1">
                <a:ea typeface="Google Sans"/>
              </a:rPr>
              <a:t>Accuracy</a:t>
            </a:r>
            <a:r>
              <a:rPr lang="ko-KR" altLang="ko-KR" sz="1600" b="1" dirty="0">
                <a:ea typeface="Google Sans"/>
              </a:rPr>
              <a:t>)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600" dirty="0">
                <a:ea typeface="Google Sans Text"/>
              </a:rPr>
              <a:t>가장 기본적이고 직관적인 지표입니다. **"전체 문제 중에서 몇 개를 맞췄는가?"**</a:t>
            </a:r>
            <a:r>
              <a:rPr lang="ko-KR" altLang="ko-KR" sz="1600" dirty="0" err="1">
                <a:ea typeface="Google Sans Text"/>
              </a:rPr>
              <a:t>를</a:t>
            </a:r>
            <a:r>
              <a:rPr lang="ko-KR" altLang="ko-KR" sz="1600" dirty="0">
                <a:ea typeface="Google Sans Text"/>
              </a:rPr>
              <a:t> 의미합니다.</a:t>
            </a:r>
            <a:endParaRPr lang="ko-KR" altLang="ko-KR" sz="1600" dirty="0"/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ea typeface="Google Sans Text"/>
              </a:rPr>
              <a:t>공식:</a:t>
            </a:r>
            <a:r>
              <a:rPr lang="ko-KR" altLang="ko-KR" sz="1600" dirty="0">
                <a:ea typeface="Google Sans Text"/>
              </a:rPr>
              <a:t> </a:t>
            </a:r>
            <a:r>
              <a:rPr lang="ko-KR" altLang="ko-KR" sz="1600" dirty="0" err="1" smtClean="0">
                <a:ea typeface="Google Sans Text"/>
              </a:rPr>
              <a:t>Accuracy</a:t>
            </a:r>
            <a:r>
              <a:rPr lang="ko-KR" altLang="ko-KR" sz="1600" dirty="0" smtClean="0">
                <a:ea typeface="Google Sans Text"/>
              </a:rPr>
              <a:t> </a:t>
            </a:r>
            <a:r>
              <a:rPr lang="ko-KR" altLang="ko-KR" sz="1600" dirty="0">
                <a:ea typeface="Google Sans Text"/>
              </a:rPr>
              <a:t>= </a:t>
            </a:r>
            <a:r>
              <a:rPr lang="en-US" altLang="ko-KR" sz="1600" dirty="0" smtClean="0">
                <a:ea typeface="Google Sans Text"/>
              </a:rPr>
              <a:t>(</a:t>
            </a:r>
            <a:r>
              <a:rPr lang="ko-KR" altLang="ko-KR" sz="1600" dirty="0" smtClean="0">
                <a:ea typeface="Google Sans Text"/>
              </a:rPr>
              <a:t>TP </a:t>
            </a:r>
            <a:r>
              <a:rPr lang="ko-KR" altLang="ko-KR" sz="1600" dirty="0">
                <a:ea typeface="Google Sans Text"/>
              </a:rPr>
              <a:t>+ </a:t>
            </a:r>
            <a:r>
              <a:rPr lang="ko-KR" altLang="ko-KR" sz="1600" dirty="0" smtClean="0">
                <a:ea typeface="Google Sans Text"/>
              </a:rPr>
              <a:t>TN</a:t>
            </a:r>
            <a:r>
              <a:rPr lang="en-US" altLang="ko-KR" sz="1600" dirty="0" smtClean="0">
                <a:ea typeface="Google Sans Text"/>
              </a:rPr>
              <a:t>)/(</a:t>
            </a:r>
            <a:r>
              <a:rPr lang="ko-KR" altLang="ko-KR" sz="1600" dirty="0" smtClean="0">
                <a:ea typeface="Google Sans Text"/>
              </a:rPr>
              <a:t>TP </a:t>
            </a:r>
            <a:r>
              <a:rPr lang="ko-KR" altLang="ko-KR" sz="1600" dirty="0">
                <a:ea typeface="Google Sans Text"/>
              </a:rPr>
              <a:t>+ TN + FP + </a:t>
            </a:r>
            <a:r>
              <a:rPr lang="ko-KR" altLang="ko-KR" sz="1600" dirty="0" smtClean="0">
                <a:ea typeface="Google Sans Text"/>
              </a:rPr>
              <a:t>FN</a:t>
            </a:r>
            <a:r>
              <a:rPr lang="en-US" altLang="ko-KR" sz="1600" dirty="0">
                <a:ea typeface="Google Sans Text"/>
              </a:rPr>
              <a:t>)</a:t>
            </a:r>
            <a:endParaRPr lang="ko-KR" altLang="ko-KR" sz="1600" dirty="0">
              <a:ea typeface="Google Sans Text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ea typeface="Google Sans Text"/>
              </a:rPr>
              <a:t>특징:</a:t>
            </a:r>
            <a:r>
              <a:rPr lang="ko-KR" altLang="ko-KR" sz="1600" dirty="0">
                <a:ea typeface="Google Sans Text"/>
              </a:rPr>
              <a:t> 누구나 이해하기 쉽습니다. 하지만 데이터가 </a:t>
            </a:r>
            <a:r>
              <a:rPr lang="ko-KR" altLang="ko-KR" sz="1600" dirty="0" err="1">
                <a:ea typeface="Google Sans Text"/>
              </a:rPr>
              <a:t>불균형할</a:t>
            </a:r>
            <a:r>
              <a:rPr lang="ko-KR" altLang="ko-KR" sz="1600" dirty="0">
                <a:ea typeface="Google Sans Text"/>
              </a:rPr>
              <a:t> 때(예: 100명 중 99명이 불합격하는 시험)는 모델이 무조건 "전부 </a:t>
            </a:r>
            <a:r>
              <a:rPr lang="ko-KR" altLang="ko-KR" sz="1600" dirty="0" err="1">
                <a:ea typeface="Google Sans Text"/>
              </a:rPr>
              <a:t>불합격!"이라고만</a:t>
            </a:r>
            <a:r>
              <a:rPr lang="ko-KR" altLang="ko-KR" sz="1600" dirty="0">
                <a:ea typeface="Google Sans Text"/>
              </a:rPr>
              <a:t> 찍어도 정확도가 99%가 나오는 치명적인 함정이 있습니다</a:t>
            </a:r>
            <a:r>
              <a:rPr lang="ko-KR" altLang="ko-KR" sz="1600" dirty="0" smtClean="0">
                <a:ea typeface="Google Sans Text"/>
              </a:rPr>
              <a:t>.</a:t>
            </a:r>
            <a:endParaRPr lang="ko-KR" altLang="en-US" sz="1600" dirty="0"/>
          </a:p>
          <a:p>
            <a:endParaRPr lang="en-US" altLang="ko-KR" sz="1600" dirty="0" smtClean="0"/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② 정밀도 (Precision)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모델이 **"합격이라고 예측한 사람 중에서, 실제로 합격한 사람의 비율"**입니다.</a:t>
            </a:r>
            <a:endParaRPr lang="ko-KR" altLang="ko-KR" sz="1600" dirty="0"/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ea typeface="Google Sans Text"/>
              </a:rPr>
              <a:t>공식:</a:t>
            </a:r>
            <a:r>
              <a:rPr lang="ko-KR" altLang="ko-KR" sz="1600" dirty="0">
                <a:ea typeface="Google Sans Text"/>
              </a:rPr>
              <a:t> </a:t>
            </a:r>
            <a:r>
              <a:rPr lang="ko-KR" altLang="ko-KR" sz="1600" dirty="0" smtClean="0">
                <a:ea typeface="Google Sans Text"/>
              </a:rPr>
              <a:t>Precision </a:t>
            </a:r>
            <a:r>
              <a:rPr lang="ko-KR" altLang="ko-KR" sz="1600" dirty="0">
                <a:ea typeface="Google Sans Text"/>
              </a:rPr>
              <a:t>= </a:t>
            </a:r>
            <a:r>
              <a:rPr lang="ko-KR" altLang="ko-KR" sz="1600" dirty="0" smtClean="0">
                <a:ea typeface="Google Sans Text"/>
              </a:rPr>
              <a:t>TP</a:t>
            </a:r>
            <a:r>
              <a:rPr lang="en-US" altLang="ko-KR" sz="1600" dirty="0" smtClean="0">
                <a:ea typeface="Google Sans Text"/>
              </a:rPr>
              <a:t> /(</a:t>
            </a:r>
            <a:r>
              <a:rPr lang="ko-KR" altLang="ko-KR" sz="1600" dirty="0" smtClean="0">
                <a:ea typeface="Google Sans Text"/>
              </a:rPr>
              <a:t>TP </a:t>
            </a:r>
            <a:r>
              <a:rPr lang="ko-KR" altLang="ko-KR" sz="1600" dirty="0">
                <a:ea typeface="Google Sans Text"/>
              </a:rPr>
              <a:t>+ </a:t>
            </a:r>
            <a:r>
              <a:rPr lang="ko-KR" altLang="ko-KR" sz="1600" dirty="0" smtClean="0">
                <a:ea typeface="Google Sans Text"/>
              </a:rPr>
              <a:t>FP</a:t>
            </a:r>
            <a:r>
              <a:rPr lang="en-US" altLang="ko-KR" sz="1600" dirty="0">
                <a:ea typeface="Google Sans Text"/>
              </a:rPr>
              <a:t>)</a:t>
            </a:r>
            <a:endParaRPr lang="ko-KR" altLang="ko-KR" sz="1600" dirty="0">
              <a:ea typeface="Google Sans Text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ea typeface="Google Sans Text"/>
              </a:rPr>
              <a:t>특징:</a:t>
            </a:r>
            <a:r>
              <a:rPr lang="ko-KR" altLang="ko-KR" sz="1600" dirty="0">
                <a:ea typeface="Google Sans Text"/>
              </a:rPr>
              <a:t> 모델이 '</a:t>
            </a:r>
            <a:r>
              <a:rPr lang="ko-KR" altLang="ko-KR" sz="1600" dirty="0" err="1">
                <a:ea typeface="Google Sans Text"/>
              </a:rPr>
              <a:t>합격'이라고</a:t>
            </a:r>
            <a:r>
              <a:rPr lang="ko-KR" altLang="ko-KR" sz="1600" dirty="0">
                <a:ea typeface="Google Sans Text"/>
              </a:rPr>
              <a:t> 판정했을 때, 그 말이 얼마나 믿을 만한지를 나타냅니다. 스팸 메일 </a:t>
            </a:r>
            <a:r>
              <a:rPr lang="ko-KR" altLang="ko-KR" sz="1600" dirty="0" err="1">
                <a:ea typeface="Google Sans Text"/>
              </a:rPr>
              <a:t>필터링처럼</a:t>
            </a:r>
            <a:r>
              <a:rPr lang="ko-KR" altLang="ko-KR" sz="1600" dirty="0">
                <a:ea typeface="Google Sans Text"/>
              </a:rPr>
              <a:t> **'정상 메일을 스팸으로 잘못 분류하면(FP) 매우 곤란한 경우'**에 중요한 지표입니다.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0" lang="ko-KR" altLang="ko-KR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Google Sans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③ </a:t>
            </a:r>
            <a:r>
              <a:rPr kumimoji="0" lang="ko-KR" altLang="ko-KR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재현율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 (</a:t>
            </a:r>
            <a:r>
              <a:rPr kumimoji="0" lang="ko-KR" altLang="ko-KR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Recall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)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**"실제 합격한 사람 중에서, 모델이 합격이라고 제대로 찾아낸 사람의 비율"**입니다.</a:t>
            </a:r>
            <a:endParaRPr lang="ko-KR" altLang="ko-KR" sz="1600" dirty="0"/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ea typeface="Google Sans Text"/>
              </a:rPr>
              <a:t>공식:</a:t>
            </a:r>
            <a:r>
              <a:rPr lang="ko-KR" altLang="ko-KR" sz="1600" dirty="0">
                <a:ea typeface="Google Sans Text"/>
              </a:rPr>
              <a:t> </a:t>
            </a:r>
            <a:r>
              <a:rPr lang="ko-KR" altLang="ko-KR" sz="1600" dirty="0" err="1" smtClean="0">
                <a:ea typeface="Google Sans Text"/>
              </a:rPr>
              <a:t>Recall</a:t>
            </a:r>
            <a:r>
              <a:rPr lang="ko-KR" altLang="ko-KR" sz="1600" dirty="0" smtClean="0">
                <a:ea typeface="Google Sans Text"/>
              </a:rPr>
              <a:t> </a:t>
            </a:r>
            <a:r>
              <a:rPr lang="ko-KR" altLang="ko-KR" sz="1600" dirty="0">
                <a:ea typeface="Google Sans Text"/>
              </a:rPr>
              <a:t>= </a:t>
            </a:r>
            <a:r>
              <a:rPr lang="ko-KR" altLang="ko-KR" sz="1600" dirty="0" smtClean="0">
                <a:ea typeface="Google Sans Text"/>
              </a:rPr>
              <a:t>TP</a:t>
            </a:r>
            <a:r>
              <a:rPr lang="en-US" altLang="ko-KR" sz="1600" dirty="0" smtClean="0">
                <a:ea typeface="Google Sans Text"/>
              </a:rPr>
              <a:t> / (</a:t>
            </a:r>
            <a:r>
              <a:rPr lang="ko-KR" altLang="ko-KR" sz="1600" dirty="0" smtClean="0">
                <a:ea typeface="Google Sans Text"/>
              </a:rPr>
              <a:t>TP </a:t>
            </a:r>
            <a:r>
              <a:rPr lang="ko-KR" altLang="ko-KR" sz="1600" dirty="0">
                <a:ea typeface="Google Sans Text"/>
              </a:rPr>
              <a:t>+ </a:t>
            </a:r>
            <a:r>
              <a:rPr lang="ko-KR" altLang="ko-KR" sz="1600" dirty="0" smtClean="0">
                <a:ea typeface="Google Sans Text"/>
              </a:rPr>
              <a:t>FN</a:t>
            </a:r>
            <a:r>
              <a:rPr lang="en-US" altLang="ko-KR" sz="1600" dirty="0">
                <a:ea typeface="Google Sans Text"/>
              </a:rPr>
              <a:t>)</a:t>
            </a:r>
            <a:endParaRPr lang="ko-KR" altLang="ko-KR" sz="1600" dirty="0">
              <a:ea typeface="Google Sans Text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ea typeface="Google Sans Text"/>
              </a:rPr>
              <a:t>특징:</a:t>
            </a:r>
            <a:r>
              <a:rPr lang="ko-KR" altLang="ko-KR" sz="1600" dirty="0">
                <a:ea typeface="Google Sans Text"/>
              </a:rPr>
              <a:t> 실제 정답(</a:t>
            </a:r>
            <a:r>
              <a:rPr lang="ko-KR" altLang="ko-KR" sz="1600" dirty="0" err="1">
                <a:ea typeface="Google Sans Text"/>
              </a:rPr>
              <a:t>Positive</a:t>
            </a:r>
            <a:r>
              <a:rPr lang="ko-KR" altLang="ko-KR" sz="1600" dirty="0">
                <a:ea typeface="Google Sans Text"/>
              </a:rPr>
              <a:t>)을 얼마나 안 놓치고 잘 잡아내는지가 핵심입니다. 암 환자 진단처럼 **'실제 암 환자를 건강하다고 놓치면(FN) 생명이 위험한 경우'**에 가장 중요한 지표입니다.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0" lang="ko-KR" altLang="ko-KR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Google Sans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④ F1 점수 (F1 </a:t>
            </a:r>
            <a:r>
              <a:rPr kumimoji="0" lang="ko-KR" altLang="ko-KR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Score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)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정밀도와 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재현율은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 시소 같은 관계라서 하나가 높아지면 다른 하나가 낮아지기 쉽습니다. 이 </a:t>
            </a:r>
            <a:r>
              <a:rPr lang="ko-KR" altLang="ko-KR" sz="1600" b="1" dirty="0">
                <a:ea typeface="Google Sans Text"/>
              </a:rPr>
              <a:t>두 지표의 조화 평균을 구하여 하나의 숫자로 나타낸 것</a:t>
            </a:r>
            <a:r>
              <a:rPr lang="ko-KR" altLang="ko-KR" sz="1600" dirty="0">
                <a:ea typeface="Google Sans Text"/>
              </a:rPr>
              <a:t>이 F1 점수입니다.</a:t>
            </a:r>
            <a:endParaRPr lang="ko-KR" altLang="ko-KR" sz="1600" dirty="0"/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ea typeface="Google Sans Text"/>
              </a:rPr>
              <a:t>공식:</a:t>
            </a:r>
            <a:r>
              <a:rPr lang="ko-KR" altLang="ko-KR" sz="1600" dirty="0">
                <a:ea typeface="Google Sans Text"/>
              </a:rPr>
              <a:t> </a:t>
            </a:r>
            <a:r>
              <a:rPr lang="ko-KR" altLang="ko-KR" sz="1600" dirty="0" smtClean="0">
                <a:ea typeface="Google Sans Text"/>
              </a:rPr>
              <a:t>F1 </a:t>
            </a:r>
            <a:r>
              <a:rPr lang="ko-KR" altLang="ko-KR" sz="1600" dirty="0">
                <a:ea typeface="Google Sans Text"/>
              </a:rPr>
              <a:t>= 2 </a:t>
            </a:r>
            <a:r>
              <a:rPr lang="en-US" altLang="ko-KR" sz="1600" dirty="0" smtClean="0">
                <a:ea typeface="Google Sans Text"/>
              </a:rPr>
              <a:t>* (</a:t>
            </a:r>
            <a:r>
              <a:rPr lang="ko-KR" altLang="ko-KR" sz="1600" dirty="0" smtClean="0">
                <a:ea typeface="Google Sans Text"/>
              </a:rPr>
              <a:t>Precision </a:t>
            </a:r>
            <a:r>
              <a:rPr lang="en-US" altLang="ko-KR" sz="1600" dirty="0" smtClean="0">
                <a:ea typeface="Google Sans Text"/>
              </a:rPr>
              <a:t>*</a:t>
            </a:r>
            <a:r>
              <a:rPr lang="ko-KR" altLang="ko-KR" sz="1600" dirty="0" smtClean="0">
                <a:ea typeface="Google Sans Text"/>
              </a:rPr>
              <a:t> </a:t>
            </a:r>
            <a:r>
              <a:rPr lang="ko-KR" altLang="ko-KR" sz="1600" dirty="0" err="1" smtClean="0">
                <a:ea typeface="Google Sans Text"/>
              </a:rPr>
              <a:t>Recall</a:t>
            </a:r>
            <a:r>
              <a:rPr lang="en-US" altLang="ko-KR" sz="1600" dirty="0" smtClean="0">
                <a:ea typeface="Google Sans Text"/>
              </a:rPr>
              <a:t>) / (</a:t>
            </a:r>
            <a:r>
              <a:rPr lang="ko-KR" altLang="ko-KR" sz="1600" dirty="0" smtClean="0">
                <a:ea typeface="Google Sans Text"/>
              </a:rPr>
              <a:t>Precision </a:t>
            </a:r>
            <a:r>
              <a:rPr lang="ko-KR" altLang="ko-KR" sz="1600" dirty="0">
                <a:ea typeface="Google Sans Text"/>
              </a:rPr>
              <a:t>+ </a:t>
            </a:r>
            <a:r>
              <a:rPr lang="ko-KR" altLang="ko-KR" sz="1600" dirty="0" err="1" smtClean="0">
                <a:ea typeface="Google Sans Text"/>
              </a:rPr>
              <a:t>Recall</a:t>
            </a:r>
            <a:r>
              <a:rPr lang="en-US" altLang="ko-KR" sz="1600" dirty="0" smtClean="0">
                <a:ea typeface="Google Sans Text"/>
              </a:rPr>
              <a:t>)</a:t>
            </a:r>
            <a:endParaRPr lang="ko-KR" altLang="ko-KR" sz="1600" dirty="0">
              <a:ea typeface="Google Sans Text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 sz="1600" b="1" dirty="0">
                <a:ea typeface="Google Sans Text"/>
              </a:rPr>
              <a:t>특징:</a:t>
            </a:r>
            <a:r>
              <a:rPr lang="ko-KR" altLang="ko-KR" sz="1600" dirty="0">
                <a:ea typeface="Google Sans Text"/>
              </a:rPr>
              <a:t> 데이터의 정답 비율이 </a:t>
            </a:r>
            <a:r>
              <a:rPr lang="ko-KR" altLang="ko-KR" sz="1600" dirty="0" err="1">
                <a:ea typeface="Google Sans Text"/>
              </a:rPr>
              <a:t>불균형할</a:t>
            </a:r>
            <a:r>
              <a:rPr lang="ko-KR" altLang="ko-KR" sz="1600" dirty="0">
                <a:ea typeface="Google Sans Text"/>
              </a:rPr>
              <a:t> 때, 정확도(</a:t>
            </a:r>
            <a:r>
              <a:rPr lang="ko-KR" altLang="ko-KR" sz="1600" dirty="0" err="1">
                <a:ea typeface="Google Sans Text"/>
              </a:rPr>
              <a:t>Accuracy</a:t>
            </a:r>
            <a:r>
              <a:rPr lang="ko-KR" altLang="ko-KR" sz="1600" dirty="0">
                <a:ea typeface="Google Sans Text"/>
              </a:rPr>
              <a:t>) 대신 모델의 실제 성능을 평가하는 아주 훌륭한 기준이 됩니다.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ko-KR" sz="1600" dirty="0"/>
          </a:p>
          <a:p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643367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4572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161325"/>
            <a:ext cx="11912837" cy="5032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2. 회귀 모델의 성능 평가 지표 (</a:t>
            </a: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Regression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회귀 모델은 분류처럼 딱 떨어지는 정답(합격/불합격)을 맞추는 게 아니라, 집값이나 내일의 기온 같은 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연속된 수치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를 예측합니다. 따라서 여기서는 "몇 개를 </a:t>
            </a:r>
            <a:r>
              <a:rPr kumimoji="0" lang="ko-KR" altLang="ko-K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맞췄나"가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 아니라, **"실제 값과 </a:t>
            </a:r>
            <a:r>
              <a:rPr kumimoji="0" lang="ko-KR" altLang="ko-K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예측값의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 차이(오차, </a:t>
            </a:r>
            <a:r>
              <a:rPr kumimoji="0" lang="ko-KR" altLang="ko-K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Error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)가 얼마나 작은가"**로 성능을 평가합니다. 오차가 작을수록 훌륭한 모델입니다.</a:t>
            </a:r>
            <a:endParaRPr kumimoji="0" lang="ko-KR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① MAE (</a:t>
            </a: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Mean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 </a:t>
            </a: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Absolute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 </a:t>
            </a: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Error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, 평균 절대 오차)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실제 값과 </a:t>
            </a:r>
            <a:r>
              <a:rPr kumimoji="0" lang="ko-KR" altLang="ko-K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예측값의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 차이에 절대값을 씌워 모두 더한 뒤 평균을 낸 것입니다.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특징: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 예를 들어 오차가 +5점, -5점 났을 때 직관적으로 "평균 5점 정도 </a:t>
            </a:r>
            <a:r>
              <a:rPr kumimoji="0" lang="ko-KR" altLang="ko-K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틀리는구나"라고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 이해하기 아주 쉽습니다.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② MSE (</a:t>
            </a: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Mean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 </a:t>
            </a: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Squared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 </a:t>
            </a: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Error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, 평균 제곱 오차)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실제 값과 </a:t>
            </a:r>
            <a:r>
              <a:rPr kumimoji="0" lang="ko-KR" altLang="ko-K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예측값의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 차이를 '</a:t>
            </a:r>
            <a:r>
              <a:rPr kumimoji="0" lang="ko-KR" altLang="ko-K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제곱'하여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 모두 더한 뒤 평균을 낸 것입니다.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특징: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 오차를 제곱하기 때문에, 오차가 클수록 </a:t>
            </a:r>
            <a:r>
              <a:rPr kumimoji="0" lang="ko-KR" altLang="ko-K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패널티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(벌점)</a:t>
            </a:r>
            <a:r>
              <a:rPr kumimoji="0" lang="ko-KR" altLang="ko-K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를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 훨씬 무겁게 줍니다. 모델이 크게 빗나가는 것을 막고 싶을 때 유용합니다.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③ RMSE (</a:t>
            </a: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Root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 </a:t>
            </a: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Mean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 </a:t>
            </a: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Squared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 </a:t>
            </a:r>
            <a:r>
              <a:rPr kumimoji="0" lang="ko-KR" altLang="ko-KR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Error</a:t>
            </a: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"/>
              </a:rPr>
              <a:t>, 평균 제곱근 오차)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MSE에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 루트를 씌운 것입니다.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특징: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 </a:t>
            </a:r>
            <a:r>
              <a:rPr kumimoji="0" lang="ko-KR" altLang="ko-K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MSE는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 제곱을 하다 보니 오차의 단위가 원래 데이터 단위보다 너무 커지는 문제가 있습니다</a:t>
            </a:r>
            <a:r>
              <a:rPr kumimoji="0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. </a:t>
            </a:r>
            <a:r>
              <a:rPr kumimoji="0" lang="ko-KR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Google Sans Text"/>
              </a:rPr>
              <a:t>여기에 루트를 씌워 다시 원래 데이터와 단위를 맞춰주어 실무에서 가장 많이 쓰이는 회귀 평가 지표입니다.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06077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656</Words>
  <Application>Microsoft Office PowerPoint</Application>
  <PresentationFormat>와이드스크린</PresentationFormat>
  <Paragraphs>42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Google Sans</vt:lpstr>
      <vt:lpstr>Google Sans Text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3</cp:revision>
  <dcterms:created xsi:type="dcterms:W3CDTF">2026-03-13T00:40:08Z</dcterms:created>
  <dcterms:modified xsi:type="dcterms:W3CDTF">2026-03-13T02:03:35Z</dcterms:modified>
</cp:coreProperties>
</file>